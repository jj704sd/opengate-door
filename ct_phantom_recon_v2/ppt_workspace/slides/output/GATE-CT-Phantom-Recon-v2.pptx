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0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640080"/>
            <a:ext cx="164592" cy="164592"/>
          </a:xfrm>
          <a:prstGeom prst="rect">
            <a:avLst/>
          </a:prstGeom>
          <a:solidFill>
            <a:srgbClr val="219EBC">
              <a:alpha val="3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42048" y="640080"/>
            <a:ext cx="164592" cy="164592"/>
          </a:xfrm>
          <a:prstGeom prst="rect">
            <a:avLst/>
          </a:prstGeom>
          <a:solidFill>
            <a:srgbClr val="219EBC">
              <a:alpha val="3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34656" y="640080"/>
            <a:ext cx="164592" cy="164592"/>
          </a:xfrm>
          <a:prstGeom prst="rect">
            <a:avLst/>
          </a:prstGeom>
          <a:solidFill>
            <a:srgbClr val="219EBC">
              <a:alpha val="3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27264" y="640080"/>
            <a:ext cx="164592" cy="164592"/>
          </a:xfrm>
          <a:prstGeom prst="rect">
            <a:avLst/>
          </a:prstGeom>
          <a:solidFill>
            <a:srgbClr val="219EBC">
              <a:alpha val="3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119872" y="640080"/>
            <a:ext cx="164592" cy="164592"/>
          </a:xfrm>
          <a:prstGeom prst="rect">
            <a:avLst/>
          </a:prstGeom>
          <a:solidFill>
            <a:srgbClr val="219EBC">
              <a:alpha val="3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0" y="640080"/>
            <a:ext cx="164592" cy="164592"/>
          </a:xfrm>
          <a:prstGeom prst="rect">
            <a:avLst/>
          </a:prstGeom>
          <a:solidFill>
            <a:srgbClr val="219EBC">
              <a:alpha val="3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0" y="932688"/>
            <a:ext cx="164592" cy="164592"/>
          </a:xfrm>
          <a:prstGeom prst="rect">
            <a:avLst/>
          </a:prstGeom>
          <a:solidFill>
            <a:srgbClr val="219EBC">
              <a:alpha val="3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42048" y="932688"/>
            <a:ext cx="164592" cy="164592"/>
          </a:xfrm>
          <a:prstGeom prst="rect">
            <a:avLst/>
          </a:prstGeom>
          <a:solidFill>
            <a:srgbClr val="219EBC">
              <a:alpha val="3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34656" y="932688"/>
            <a:ext cx="164592" cy="164592"/>
          </a:xfrm>
          <a:prstGeom prst="rect">
            <a:avLst/>
          </a:prstGeom>
          <a:solidFill>
            <a:srgbClr val="219EBC">
              <a:alpha val="3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27264" y="932688"/>
            <a:ext cx="164592" cy="164592"/>
          </a:xfrm>
          <a:prstGeom prst="rect">
            <a:avLst/>
          </a:prstGeom>
          <a:solidFill>
            <a:srgbClr val="219EBC">
              <a:alpha val="3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932688"/>
            <a:ext cx="164592" cy="164592"/>
          </a:xfrm>
          <a:prstGeom prst="rect">
            <a:avLst/>
          </a:prstGeom>
          <a:solidFill>
            <a:srgbClr val="219EBC">
              <a:alpha val="3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932688"/>
            <a:ext cx="164592" cy="164592"/>
          </a:xfrm>
          <a:prstGeom prst="rect">
            <a:avLst/>
          </a:prstGeom>
          <a:solidFill>
            <a:srgbClr val="219EBC">
              <a:alpha val="3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49440" y="1225296"/>
            <a:ext cx="164592" cy="164592"/>
          </a:xfrm>
          <a:prstGeom prst="rect">
            <a:avLst/>
          </a:prstGeom>
          <a:solidFill>
            <a:srgbClr val="219EBC">
              <a:alpha val="3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42048" y="1225296"/>
            <a:ext cx="164592" cy="164592"/>
          </a:xfrm>
          <a:prstGeom prst="rect">
            <a:avLst/>
          </a:prstGeom>
          <a:solidFill>
            <a:srgbClr val="219EBC">
              <a:alpha val="3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34656" y="1225296"/>
            <a:ext cx="164592" cy="164592"/>
          </a:xfrm>
          <a:prstGeom prst="rect">
            <a:avLst/>
          </a:prstGeom>
          <a:solidFill>
            <a:srgbClr val="219EBC">
              <a:alpha val="3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27264" y="1225296"/>
            <a:ext cx="164592" cy="164592"/>
          </a:xfrm>
          <a:prstGeom prst="rect">
            <a:avLst/>
          </a:prstGeom>
          <a:solidFill>
            <a:srgbClr val="219EBC">
              <a:alpha val="3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19872" y="1225296"/>
            <a:ext cx="164592" cy="164592"/>
          </a:xfrm>
          <a:prstGeom prst="rect">
            <a:avLst/>
          </a:prstGeom>
          <a:solidFill>
            <a:srgbClr val="219EBC">
              <a:alpha val="3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1225296"/>
            <a:ext cx="164592" cy="164592"/>
          </a:xfrm>
          <a:prstGeom prst="rect">
            <a:avLst/>
          </a:prstGeom>
          <a:solidFill>
            <a:srgbClr val="219EBC">
              <a:alpha val="3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1517904"/>
            <a:ext cx="164592" cy="164592"/>
          </a:xfrm>
          <a:prstGeom prst="rect">
            <a:avLst/>
          </a:prstGeom>
          <a:solidFill>
            <a:srgbClr val="219EBC">
              <a:alpha val="3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42048" y="1517904"/>
            <a:ext cx="164592" cy="164592"/>
          </a:xfrm>
          <a:prstGeom prst="rect">
            <a:avLst/>
          </a:prstGeom>
          <a:solidFill>
            <a:srgbClr val="219EBC">
              <a:alpha val="3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34656" y="1517904"/>
            <a:ext cx="164592" cy="164592"/>
          </a:xfrm>
          <a:prstGeom prst="rect">
            <a:avLst/>
          </a:prstGeom>
          <a:solidFill>
            <a:srgbClr val="219EBC">
              <a:alpha val="3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27264" y="1517904"/>
            <a:ext cx="164592" cy="164592"/>
          </a:xfrm>
          <a:prstGeom prst="rect">
            <a:avLst/>
          </a:prstGeom>
          <a:solidFill>
            <a:srgbClr val="219EBC">
              <a:alpha val="3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19872" y="1517904"/>
            <a:ext cx="164592" cy="164592"/>
          </a:xfrm>
          <a:prstGeom prst="rect">
            <a:avLst/>
          </a:prstGeom>
          <a:solidFill>
            <a:srgbClr val="219EBC">
              <a:alpha val="3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0" y="1517904"/>
            <a:ext cx="164592" cy="164592"/>
          </a:xfrm>
          <a:prstGeom prst="rect">
            <a:avLst/>
          </a:prstGeom>
          <a:solidFill>
            <a:srgbClr val="219EBC">
              <a:alpha val="3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49440" y="1810512"/>
            <a:ext cx="164592" cy="164592"/>
          </a:xfrm>
          <a:prstGeom prst="rect">
            <a:avLst/>
          </a:prstGeom>
          <a:solidFill>
            <a:srgbClr val="219EBC">
              <a:alpha val="3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42048" y="1810512"/>
            <a:ext cx="164592" cy="164592"/>
          </a:xfrm>
          <a:prstGeom prst="rect">
            <a:avLst/>
          </a:prstGeom>
          <a:solidFill>
            <a:srgbClr val="219EBC">
              <a:alpha val="3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34656" y="1810512"/>
            <a:ext cx="164592" cy="164592"/>
          </a:xfrm>
          <a:prstGeom prst="rect">
            <a:avLst/>
          </a:prstGeom>
          <a:solidFill>
            <a:srgbClr val="219EBC">
              <a:alpha val="3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27264" y="1810512"/>
            <a:ext cx="164592" cy="164592"/>
          </a:xfrm>
          <a:prstGeom prst="rect">
            <a:avLst/>
          </a:prstGeom>
          <a:solidFill>
            <a:srgbClr val="219EBC">
              <a:alpha val="3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19872" y="1810512"/>
            <a:ext cx="164592" cy="164592"/>
          </a:xfrm>
          <a:prstGeom prst="rect">
            <a:avLst/>
          </a:prstGeom>
          <a:solidFill>
            <a:srgbClr val="219EBC">
              <a:alpha val="3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12480" y="1810512"/>
            <a:ext cx="164592" cy="164592"/>
          </a:xfrm>
          <a:prstGeom prst="rect">
            <a:avLst/>
          </a:prstGeom>
          <a:solidFill>
            <a:srgbClr val="219EBC">
              <a:alpha val="30000"/>
            </a:srgbClr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52160" y="2651760"/>
            <a:ext cx="2377440" cy="2377440"/>
          </a:xfrm>
          <a:prstGeom prst="rect">
            <a:avLst/>
          </a:prstGeom>
          <a:solidFill>
            <a:srgbClr val="219EBC">
              <a:alpha val="25000"/>
            </a:srgbClr>
          </a:solidFill>
          <a:ln w="19050">
            <a:solidFill>
              <a:srgbClr val="8ECA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92240" y="3108960"/>
            <a:ext cx="320040" cy="320040"/>
          </a:xfrm>
          <a:prstGeom prst="rect">
            <a:avLst/>
          </a:prstGeom>
          <a:solidFill>
            <a:srgbClr val="8ECAE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69480" y="2926080"/>
            <a:ext cx="320040" cy="320040"/>
          </a:xfrm>
          <a:prstGeom prst="rect">
            <a:avLst/>
          </a:prstGeom>
          <a:solidFill>
            <a:srgbClr val="FB85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03720" y="3931920"/>
            <a:ext cx="320040" cy="320040"/>
          </a:xfrm>
          <a:prstGeom prst="rect">
            <a:avLst/>
          </a:prstGeom>
          <a:solidFill>
            <a:srgbClr val="FFB70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0" y="3749040"/>
            <a:ext cx="320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3703320"/>
            <a:ext cx="32004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200" dirty="0">
                <a:solidFill>
                  <a:srgbClr val="8ECA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GATE Monte Carlo Simulation  /  CT Reconstruction Pipeline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" y="1270000"/>
            <a:ext cx="4909820" cy="10483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GATE 蒙特卡洛 CT </a:t>
            </a:r>
            <a:endParaRPr lang="en-US" sz="3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体膜仿真与重建</a:t>
            </a:r>
            <a:endParaRPr lang="en-US" sz="3800" dirty="0"/>
          </a:p>
        </p:txBody>
      </p:sp>
      <p:sp>
        <p:nvSpPr>
          <p:cNvPr id="41" name="Text 39"/>
          <p:cNvSpPr/>
          <p:nvPr/>
        </p:nvSpPr>
        <p:spPr>
          <a:xfrm>
            <a:off x="640080" y="2438400"/>
            <a:ext cx="5943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8ECA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60-Angle Fan-Beam Scan  /  Self-Written FBP  /  v2 Clean Build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640080" y="2971800"/>
            <a:ext cx="1463040" cy="0"/>
          </a:xfrm>
          <a:prstGeom prst="line">
            <a:avLst/>
          </a:prstGeom>
          <a:noFill/>
          <a:ln w="31750">
            <a:solidFill>
              <a:srgbClr val="FB85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320040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路径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" y="3456432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D:\OpenGATE\ct_phantom_recon_v2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148840" y="320040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版本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148840" y="3456432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v2.1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657600" y="320040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时间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657600" y="3456432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2026-06-14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166360" y="320040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B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状态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166360" y="3456432"/>
            <a:ext cx="14173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工作流跑通 / 物理量待修正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ECA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Phantom: Water + Air / Lung / Bone / PMMA / Al    |    Source: 120 keV gamma, fan-beam    |    60 angles, 6 deg step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949440" y="45720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FB85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  /  CT  /  RECON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109728" cy="45720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9260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  /  Contents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E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六个章节, 从项目概览到下一步行动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83210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173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73152" cy="96012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27048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9EB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554480" y="15544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项目概览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19202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 / 定位 / 当前完成度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417320"/>
            <a:ext cx="73152" cy="96012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527048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9EB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806440" y="155448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文件结构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806440" y="19202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扫描 / 重建 / 输出目录树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51460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514600"/>
            <a:ext cx="73152" cy="96012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2624328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9EB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554480" y="265176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仿真设计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54480" y="301752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Phantom + 源 + 探测器 + 物理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51460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514600"/>
            <a:ext cx="73152" cy="96012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624328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9EB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806440" y="265176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重建算法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806440" y="301752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扇形束 FBP 6 步流程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36118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611880"/>
            <a:ext cx="73152" cy="96012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721608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9EB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1554480" y="37490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数据产物与质量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54480" y="4114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类输出 + 当前 μ 评估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61188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0" y="3611880"/>
            <a:ext cx="73152" cy="96012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3721608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19EB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5806440" y="37490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优化与下一步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806440" y="411480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阶段路线图 + 推荐 P1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11480" y="477316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GATE CT Phantom Reconstruction  /  v2.1 (2026-06-14)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275320" y="4736592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75320" y="473659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109728" cy="45720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9260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  /  项目概览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E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 GATE 跑蒙特卡洛 CT 扫描,自己写 FBP 重建,60 角度端到端跑通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83210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B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扇形束 CT 仿真 + 重建,跑通完整工作流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120 keV 单能 γ, 多材质体膜, 60 角度 6° 步长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自写 FBP, 无 skimage 依赖, 全部用 numpy / scipy / itk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88036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971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B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当前状态  (v2.1)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329184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9D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[OK] 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3291840"/>
            <a:ext cx="4251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60 角度 GATE 扫描跑通, 10 分钟/全量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3502152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9D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[OK]  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3502152"/>
            <a:ext cx="4251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扇形束 FBP 重建出 12×90×90 体数据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" y="3712464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9D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[OK]  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3712464"/>
            <a:ext cx="4251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可视化三视图 + 真值对比图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922776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9D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[OK]  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88720" y="3922776"/>
            <a:ext cx="4251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失败跳过 / 断点续扫, 工作流健壮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133088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6F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[!!]  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4133088"/>
            <a:ext cx="4251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几何缺陷: 重建 μ 偏低 3-8 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" y="4343400"/>
            <a:ext cx="502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6F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[!!]  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4343400"/>
            <a:ext cx="42519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FBP 抗噪弱, 中心放射条纹明显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52160" y="1325880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1371600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B85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269480" y="143560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ECA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angles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269480" y="164592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扫描角度数, 6° 步长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52160" y="2039112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2084832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B85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500k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7269480" y="2148840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ECA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photons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69480" y="235915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每角度入射粒子数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52160" y="2752344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2798064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B85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~10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7269480" y="2862072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ECA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min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269480" y="3072384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全量扫描耗时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852160" y="3465576"/>
            <a:ext cx="2926080" cy="640080"/>
          </a:xfrm>
          <a:prstGeom prst="roundRect">
            <a:avLst>
              <a:gd name="adj" fmla="val 11429"/>
            </a:avLst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9320" y="3511296"/>
            <a:ext cx="1554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B85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12x90x90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7269480" y="3575304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ECA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voxels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269480" y="3785616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重建体数据尺寸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11480" y="477316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GATE CT Phantom Reconstruction  /  v2.1 (2026-06-14)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275320" y="4736592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75320" y="473659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109728" cy="45720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9260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  /  文件结构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E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 Python 入口 + 自动生成的 worker + output 目录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83210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42062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17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B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源码与文档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856232"/>
            <a:ext cx="109728" cy="109728"/>
          </a:xfrm>
          <a:prstGeom prst="rect">
            <a:avLst/>
          </a:prstGeom>
          <a:solidFill>
            <a:srgbClr val="219EBC"/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78308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ct_phantom_scan.py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984248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扫描主脚本, 60 角度 × 500k 粒子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11880" y="1819656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819656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2295144"/>
            <a:ext cx="109728" cy="109728"/>
          </a:xfrm>
          <a:prstGeom prst="rect">
            <a:avLst/>
          </a:prstGeom>
          <a:solidFill>
            <a:srgbClr val="219EBC"/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221992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ct_recon.py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60120" y="242316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扇形束 FBP 重建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11880" y="2258568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2258568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2734056"/>
            <a:ext cx="109728" cy="109728"/>
          </a:xfrm>
          <a:prstGeom prst="rect">
            <a:avLst/>
          </a:prstGeom>
          <a:solidFill>
            <a:srgbClr val="219EBC"/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2660904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_worker_one_angle.py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2862072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子进程脚本, 每次启动自动生成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11880" y="2697480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2697480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自动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" y="3172968"/>
            <a:ext cx="109728" cy="109728"/>
          </a:xfrm>
          <a:prstGeom prst="rect">
            <a:avLst/>
          </a:prstGeom>
          <a:solidFill>
            <a:srgbClr val="219EBC"/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3099816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README.md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3300984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使用文档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11880" y="3136392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219EBC"/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3136392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" y="3611880"/>
            <a:ext cx="109728" cy="109728"/>
          </a:xfrm>
          <a:prstGeom prst="rect">
            <a:avLst/>
          </a:prstGeom>
          <a:solidFill>
            <a:srgbClr val="219EBC"/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3538728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OPTIMIZATION_PLAN.md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3739896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优化路线图 v2 -&gt; v3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11880" y="3575304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219EBC"/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11880" y="3575304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1520" y="4050792"/>
            <a:ext cx="109728" cy="109728"/>
          </a:xfrm>
          <a:prstGeom prst="rect">
            <a:avLst/>
          </a:prstGeom>
          <a:solidFill>
            <a:srgbClr val="219EBC"/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3977640"/>
            <a:ext cx="2194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PROJECT_STATUS.md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0120" y="4178808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现状 + 经验教训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11880" y="4014216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219EBC"/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11880" y="4014216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doc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92040" y="1325880"/>
            <a:ext cx="384048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1417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B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output/ 目录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20640" y="1783080"/>
            <a:ext cx="3429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output/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94960" y="2057400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&gt; angle_000/  ...  angle_059/    (60 角度 GATE 子目录)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669280" y="2331720"/>
            <a:ext cx="2880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- projection.mhd / .raw     (2D 投影 30×12)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669280" y="2606040"/>
            <a:ext cx="28803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  - stats.txt                 (GATE 仿真统计)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94960" y="2880360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&gt; ct_sinogram_3d.mhd / .raw     (60×12×30 sinogram)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394960" y="3154680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&gt; ct_recon.mhd / .raw           (12×90×90 体数据)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394960" y="3429000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&gt; ct_sinogram_overview.png      (12 角度投影)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394960" y="3703320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&gt; ct_recon_slices.png           (三视图)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394960" y="3977640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&gt; ct_phantom_3d.png             (真值 vs 重建)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11480" y="477316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GATE CT Phantom Reconstruction  /  v2.1 (2026-06-14)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275320" y="4736592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275320" y="473659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109728" cy="45720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9260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  /  仿真设计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E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水模 + 5 嵌入物, 扇形束 120 keV, 60 角度 6° 步长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83210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80160"/>
            <a:ext cx="3017520" cy="32461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B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Phantom 结构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2011680"/>
            <a:ext cx="2103120" cy="2103120"/>
          </a:xfrm>
          <a:prstGeom prst="rect">
            <a:avLst/>
          </a:prstGeom>
          <a:solidFill>
            <a:srgbClr val="8ECAE6">
              <a:alpha val="70000"/>
            </a:srgbClr>
          </a:solidFill>
          <a:ln w="19050">
            <a:solidFill>
              <a:srgbClr val="219E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50008" y="2898648"/>
            <a:ext cx="329184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0230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67128" y="3264408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Air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103120" y="3337560"/>
            <a:ext cx="329184" cy="329184"/>
          </a:xfrm>
          <a:prstGeom prst="rect">
            <a:avLst/>
          </a:prstGeom>
          <a:solidFill>
            <a:srgbClr val="FFB703"/>
          </a:solidFill>
          <a:ln w="9525">
            <a:solidFill>
              <a:srgbClr val="0230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703320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Lung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591056" y="3337560"/>
            <a:ext cx="329184" cy="329184"/>
          </a:xfrm>
          <a:prstGeom prst="rect">
            <a:avLst/>
          </a:prstGeom>
          <a:solidFill>
            <a:srgbClr val="FB8500"/>
          </a:solidFill>
          <a:ln w="9525">
            <a:solidFill>
              <a:srgbClr val="0230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08176" y="3703320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Bone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847088" y="2395728"/>
            <a:ext cx="329184" cy="329184"/>
          </a:xfrm>
          <a:prstGeom prst="rect">
            <a:avLst/>
          </a:prstGeom>
          <a:solidFill>
            <a:srgbClr val="8ECAE6"/>
          </a:solidFill>
          <a:ln w="9525">
            <a:solidFill>
              <a:srgbClr val="0230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64208" y="2761488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PMMA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344168" y="2898648"/>
            <a:ext cx="329184" cy="329184"/>
          </a:xfrm>
          <a:prstGeom prst="rect">
            <a:avLst/>
          </a:prstGeom>
          <a:solidFill>
            <a:srgbClr val="023047"/>
          </a:solidFill>
          <a:ln w="9525">
            <a:solidFill>
              <a:srgbClr val="0230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61288" y="3264408"/>
            <a:ext cx="694944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219EB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Water  R=80mm  L=80mm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49040" y="1280160"/>
            <a:ext cx="4983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137160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B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Source  /  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31920" y="169164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120 keV </a:t>
            </a:r>
            <a:r>
              <a:rPr lang="en-US" sz="12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单能 γ  </a:t>
            </a:r>
            <a:r>
              <a:rPr lang="en-US" sz="1200" dirty="0">
                <a:solidFill>
                  <a:srgbClr val="8ECA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|  </a:t>
            </a:r>
            <a:r>
              <a:rPr lang="en-US" sz="1200" b="1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focused 扇形束  </a:t>
            </a:r>
            <a:r>
              <a:rPr lang="en-US" sz="1200" dirty="0">
                <a:solidFill>
                  <a:srgbClr val="8ECA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|  </a:t>
            </a:r>
            <a:r>
              <a:rPr lang="en-US" sz="1200" b="1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SAD=400mm  ADD=200mm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749040" y="2286000"/>
            <a:ext cx="4983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237744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B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Detector  /  探测器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931920" y="2697480"/>
            <a:ext cx="46177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240 × 100 mm  </a:t>
            </a:r>
            <a:r>
              <a:rPr lang="en-US" sz="1200" dirty="0">
                <a:solidFill>
                  <a:srgbClr val="8ECA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|  </a:t>
            </a:r>
            <a:r>
              <a:rPr lang="en-US" sz="1200" b="1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 × 12 像素  </a:t>
            </a:r>
            <a:r>
              <a:rPr lang="en-US" sz="1200" dirty="0">
                <a:solidFill>
                  <a:srgbClr val="8ECA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|  </a:t>
            </a:r>
            <a:r>
              <a:rPr lang="en-US" sz="1200" b="1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8mm pitch  </a:t>
            </a:r>
            <a:r>
              <a:rPr lang="en-US" sz="1200" dirty="0">
                <a:solidFill>
                  <a:srgbClr val="8ECA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|  </a:t>
            </a:r>
            <a:r>
              <a:rPr lang="en-US" sz="1200" i="1" dirty="0">
                <a:solidFill>
                  <a:srgbClr val="219EB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FluenceActor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749040" y="3291840"/>
            <a:ext cx="4983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0" y="3383280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B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Physics + 采集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1920" y="3657600"/>
            <a:ext cx="46177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物理列表: </a:t>
            </a:r>
            <a:r>
              <a:rPr lang="en-US" sz="1100" b="1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G4EmStandardPhysics_option4</a:t>
            </a:r>
            <a:endParaRPr lang="en-US" sz="11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角度数: </a:t>
            </a:r>
            <a:r>
              <a:rPr lang="en-US" sz="1100" b="1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  </a:t>
            </a:r>
            <a:r>
              <a:rPr lang="en-US" sz="11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|  步长: </a:t>
            </a:r>
            <a:r>
              <a:rPr lang="en-US" sz="1100" b="1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6°  </a:t>
            </a:r>
            <a:r>
              <a:rPr lang="en-US" sz="11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|  粒子/角度: </a:t>
            </a:r>
            <a:r>
              <a:rPr lang="en-US" sz="1100" b="1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500,000  </a:t>
            </a:r>
            <a:r>
              <a:rPr lang="en-US" sz="11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|  进程: </a:t>
            </a:r>
            <a:r>
              <a:rPr lang="en-US" sz="1100" b="1" dirty="0">
                <a:solidFill>
                  <a:srgbClr val="FB85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 个 subprocess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" y="477316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GATE CT Phantom Reconstruction  /  v2.1 (2026-06-14)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275320" y="4736592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473659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109728" cy="45720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9260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  /  重建算法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E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自写扇形束 FBP, 无 skimage 依赖, 6 步从 sinogram 到 3D 体数据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83210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80160"/>
            <a:ext cx="1325880" cy="14630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80160"/>
            <a:ext cx="1325880" cy="7315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173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B85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691640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读投影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05740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9EB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 张 mhd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33172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30×12 像素/张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 rot="5400000">
            <a:off x="1833372" y="1956816"/>
            <a:ext cx="100584" cy="109728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38528" y="1280160"/>
            <a:ext cx="1325880" cy="14630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38528" y="1280160"/>
            <a:ext cx="1325880" cy="7315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29968" y="14173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B85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29968" y="1691640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堆 sinogram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29968" y="205740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9EB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(60,12,30)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29968" y="233172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3D 张量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 rot="5400000">
            <a:off x="3268980" y="1956816"/>
            <a:ext cx="100584" cy="109728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74136" y="1280160"/>
            <a:ext cx="1325880" cy="14630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74136" y="1280160"/>
            <a:ext cx="1325880" cy="7315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65576" y="14173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B85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65576" y="1691640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I0 + log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65576" y="205740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9EB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-log(sino/I0)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465576" y="233172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中值 3×3 滤波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 rot="5400000">
            <a:off x="4704588" y="1956816"/>
            <a:ext cx="100584" cy="109728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9744" y="1280160"/>
            <a:ext cx="1325880" cy="14630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9744" y="1280160"/>
            <a:ext cx="1325880" cy="7315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01184" y="14173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B85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01184" y="1691640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Ram-Lak 滤波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01184" y="205740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9EB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1D FFT + Hamming 窗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01184" y="233172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沿探测器列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 rot="5400000">
            <a:off x="6140196" y="1956816"/>
            <a:ext cx="100584" cy="109728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45352" y="1280160"/>
            <a:ext cx="1325880" cy="14630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45352" y="1280160"/>
            <a:ext cx="1325880" cy="7315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36792" y="14173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B85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336792" y="1691640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加权反投影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36792" y="205740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9EB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(SAD/(Xr+SAD))^2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36792" y="233172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fan-beam 几何补偿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 rot="5400000">
            <a:off x="7575804" y="1956816"/>
            <a:ext cx="100584" cy="109728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80960" y="1280160"/>
            <a:ext cx="1325880" cy="146304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80960" y="1280160"/>
            <a:ext cx="1325880" cy="73152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772400" y="1417320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B85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772400" y="1691640"/>
            <a:ext cx="1143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输出 3D 体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772400" y="205740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9EB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12×90×90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72400" y="2331720"/>
            <a:ext cx="1143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μ 值 mm^-1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02920" y="292608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5800" y="30632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B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核心公式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85800" y="338328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proj = -log(sinogram / I0)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85800" y="39319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ECA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I0 = sinogram.max(), 简单估计, 不完美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383280" y="292608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66160" y="30632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19E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滤波核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566160" y="338328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Ram-Lak × Hamming 窗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3566160" y="39319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ECA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保留高频边缘, 抑制高频噪声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263640" y="292608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46520" y="30632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A9D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几何权重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446520" y="3383280"/>
            <a:ext cx="23774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weight = (SAD / (Xr + SAD))^2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446520" y="393192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ECA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扇形束 -&gt; 等价平行束的关键修正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11480" y="477316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GATE CT Phantom Reconstruction  /  v2.1 (2026-06-14)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275320" y="4736592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275320" y="473659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109728" cy="45720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9260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  /  数据产物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E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类输出: 原始投影 + 堆叠 sinogram + 重建体 + 可视化图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83210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80160"/>
            <a:ext cx="42976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B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重建三视图  /  axial · coronal · sagittal</a:t>
            </a:r>
            <a:endParaRPr lang="en-US" sz="1100" dirty="0"/>
          </a:p>
        </p:txBody>
      </p:sp>
      <p:pic>
        <p:nvPicPr>
          <p:cNvPr id="8" name="Image 0" descr="D:\OpenGATE\ct_phantom_recon_v2\output\ct_recon_slices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40080" y="1737360"/>
            <a:ext cx="4023360" cy="2468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4233672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图源: ct_recon_slices.png  |  当前质量: 模糊 + 中心放射条纹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983480" y="1280160"/>
            <a:ext cx="37490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83480" y="1280160"/>
            <a:ext cx="73152" cy="768096"/>
          </a:xfrm>
          <a:prstGeom prst="rect">
            <a:avLst/>
          </a:prstGeom>
          <a:solidFill>
            <a:srgbClr val="219EBC"/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66360" y="1371600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angle_000/ ... angle_059/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166360" y="1664208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60 张原始投影 (30×12 像素)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680960" y="1389888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0" y="1389888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per-angle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83480" y="2121408"/>
            <a:ext cx="37490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83480" y="2121408"/>
            <a:ext cx="73152" cy="768096"/>
          </a:xfrm>
          <a:prstGeom prst="rect">
            <a:avLst/>
          </a:prstGeom>
          <a:solidFill>
            <a:srgbClr val="219EBC"/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66360" y="2212848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ct_sinogram_3d.mhd / .raw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166360" y="2505456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堆叠 sinogram, 形状 (60, 12, 30)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680960" y="2231136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80960" y="2231136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60×12×30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983480" y="2962656"/>
            <a:ext cx="37490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983480" y="2962656"/>
            <a:ext cx="73152" cy="768096"/>
          </a:xfrm>
          <a:prstGeom prst="rect">
            <a:avLst/>
          </a:prstGeom>
          <a:solidFill>
            <a:srgbClr val="219EBC"/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166360" y="3054096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ct_recon.mhd / .raw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166360" y="3346704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重建 3D 体, 形状 (12, 90, 90), μ 值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680960" y="3072384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80960" y="3072384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12×90×90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983480" y="3803904"/>
            <a:ext cx="3749040" cy="768096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983480" y="3803904"/>
            <a:ext cx="73152" cy="768096"/>
          </a:xfrm>
          <a:prstGeom prst="rect">
            <a:avLst/>
          </a:prstGeom>
          <a:solidFill>
            <a:srgbClr val="219EBC"/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166360" y="3895344"/>
            <a:ext cx="2468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*.png  (sinogram / recon / phantom)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166360" y="4187952"/>
            <a:ext cx="3383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可视化图, 3D Slicer / ITK 可二次读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680960" y="3913632"/>
            <a:ext cx="868680" cy="274320"/>
          </a:xfrm>
          <a:prstGeom prst="roundRect">
            <a:avLst>
              <a:gd name="adj" fmla="val 13333"/>
            </a:avLst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680960" y="3913632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visual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11480" y="477316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GATE CT Phantom Reconstruction  /  v2.1 (2026-06-14)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275320" y="4736592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275320" y="473659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109728" cy="45720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9260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  /  数据质量评估 + 已知问题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E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工作流跑通, 但物理量值不可信; 三大问题按影响排序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83210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80160"/>
            <a:ext cx="82296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533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B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当前数据质量评估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2011680" cy="292608"/>
          </a:xfrm>
          <a:prstGeom prst="rect">
            <a:avLst/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91640"/>
            <a:ext cx="20116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1691640"/>
            <a:ext cx="1828800" cy="292608"/>
          </a:xfrm>
          <a:prstGeom prst="rect">
            <a:avLst/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69164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当前值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1691640"/>
            <a:ext cx="1828800" cy="292608"/>
          </a:xfrm>
          <a:prstGeom prst="rect">
            <a:avLst/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0" y="169164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理论值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691640"/>
            <a:ext cx="2286000" cy="292735"/>
          </a:xfrm>
          <a:prstGeom prst="rect">
            <a:avLst/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715" y="1691640"/>
            <a:ext cx="2239645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评估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1984248"/>
            <a:ext cx="7955280" cy="192024"/>
          </a:xfrm>
          <a:prstGeom prst="rect">
            <a:avLst/>
          </a:prstGeom>
          <a:solidFill>
            <a:srgbClr val="8ECAE6">
              <a:alpha val="20000"/>
            </a:srgbClr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1984248"/>
            <a:ext cx="1865376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I0 估计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1760" y="1984248"/>
            <a:ext cx="182880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 (max)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80560" y="1984248"/>
            <a:ext cx="182880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9EB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70-100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56832" y="2007108"/>
            <a:ext cx="585216" cy="146304"/>
          </a:xfrm>
          <a:prstGeom prst="roundRect">
            <a:avLst>
              <a:gd name="adj" fmla="val 25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2007108"/>
            <a:ext cx="58521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589520" y="1984248"/>
            <a:ext cx="12801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偏低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3232" y="2176272"/>
            <a:ext cx="1865376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proj_log 范围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51760" y="2176272"/>
            <a:ext cx="182880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[0.22, 2.30]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80560" y="2176272"/>
            <a:ext cx="182880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9EB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[0.5, 1.5]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56832" y="2199132"/>
            <a:ext cx="585216" cy="146304"/>
          </a:xfrm>
          <a:prstGeom prst="roundRect">
            <a:avLst>
              <a:gd name="adj" fmla="val 25000"/>
            </a:avLst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56832" y="2199132"/>
            <a:ext cx="58521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WARN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589520" y="2176272"/>
            <a:ext cx="12801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偏宽, 有噪声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2368296"/>
            <a:ext cx="7955280" cy="192024"/>
          </a:xfrm>
          <a:prstGeom prst="rect">
            <a:avLst/>
          </a:prstGeom>
          <a:solidFill>
            <a:srgbClr val="8ECAE6">
              <a:alpha val="20000"/>
            </a:srgbClr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2368296"/>
            <a:ext cx="1865376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重建 μ 范围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51760" y="2368296"/>
            <a:ext cx="182880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[-0.004, 0.005]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80560" y="2368296"/>
            <a:ext cx="182880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9EB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[0, 0.5]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56832" y="2391156"/>
            <a:ext cx="585216" cy="146304"/>
          </a:xfrm>
          <a:prstGeom prst="roundRect">
            <a:avLst>
              <a:gd name="adj" fmla="val 25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56832" y="2391156"/>
            <a:ext cx="58521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589520" y="2368296"/>
            <a:ext cx="12801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偏低 3-8 倍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3232" y="2560320"/>
            <a:ext cx="1865376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水模区域 μ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651760" y="2560320"/>
            <a:ext cx="182880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~0.002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80560" y="2560320"/>
            <a:ext cx="182880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9EB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0.016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56832" y="2583180"/>
            <a:ext cx="585216" cy="146304"/>
          </a:xfrm>
          <a:prstGeom prst="roundRect">
            <a:avLst>
              <a:gd name="adj" fmla="val 25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56832" y="2583180"/>
            <a:ext cx="58521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589520" y="2560320"/>
            <a:ext cx="12801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严重偏低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0080" y="2752344"/>
            <a:ext cx="7955280" cy="192024"/>
          </a:xfrm>
          <a:prstGeom prst="rect">
            <a:avLst/>
          </a:prstGeom>
          <a:solidFill>
            <a:srgbClr val="8ECAE6">
              <a:alpha val="20000"/>
            </a:srgbClr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" y="2752344"/>
            <a:ext cx="1865376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Al 球 μ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651760" y="2752344"/>
            <a:ext cx="182880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看不到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480560" y="2752344"/>
            <a:ext cx="182880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9EB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0.40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656832" y="2775204"/>
            <a:ext cx="585216" cy="146304"/>
          </a:xfrm>
          <a:prstGeom prst="roundRect">
            <a:avLst>
              <a:gd name="adj" fmla="val 250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56832" y="2775204"/>
            <a:ext cx="585216" cy="1463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BAD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589520" y="2752344"/>
            <a:ext cx="1280160" cy="192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不可用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02920" y="310896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5800" y="3200400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E76F5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P1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1371600" y="3218688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I0 估计错误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85800" y="3657600"/>
            <a:ext cx="2313432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sinogram.max() 当 I0, 但 20 已被衰减过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5800" y="4096512"/>
            <a:ext cx="2313432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FB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修复: 单独跑 air scan, 用真 I0 重建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300984" y="310896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83864" y="3200400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B85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P2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4169664" y="3218688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FBP 抗噪弱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3483864" y="3657600"/>
            <a:ext cx="2313432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Ram-Lak 放大高频噪声, 60 角度欠采样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483864" y="4096512"/>
            <a:ext cx="2313432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FB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修复: 换 SART 迭代重建, 加 TV 正则化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099048" y="3108960"/>
            <a:ext cx="267919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81928" y="3200400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19EBC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P3</a:t>
            </a:r>
            <a:endParaRPr lang="en-US" sz="2200" dirty="0"/>
          </a:p>
        </p:txBody>
      </p:sp>
      <p:sp>
        <p:nvSpPr>
          <p:cNvPr id="61" name="Text 59"/>
          <p:cNvSpPr/>
          <p:nvPr/>
        </p:nvSpPr>
        <p:spPr>
          <a:xfrm>
            <a:off x="6967728" y="3218688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Z 方向分辨率低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6281928" y="3657600"/>
            <a:ext cx="2313432" cy="411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轴向层 × 8mm = 96mm, 冠状/矢状面马赛克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281928" y="4096512"/>
            <a:ext cx="2313432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FB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修复: 改 4mm 像素 (24 层), 需重跑扫描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11480" y="477316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GATE CT Phantom Reconstruction  /  v2.1 (2026-06-14)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8275320" y="4736592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75320" y="473659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109728" cy="45720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9260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  /  优化路线图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E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阶段, 从 5 分钟小改到 1 小时重跑, 性价比优先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83210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80160"/>
            <a:ext cx="2679192" cy="269748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80160"/>
            <a:ext cx="2679192" cy="50292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53312"/>
            <a:ext cx="231343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554480"/>
            <a:ext cx="231343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数据级修正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1901952"/>
            <a:ext cx="23134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5-10 min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148840"/>
            <a:ext cx="23134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重跑: air scan only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" y="2487168"/>
            <a:ext cx="91440" cy="9144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423160"/>
            <a:ext cx="21762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1.1  修 I0 估计 (5 min)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2779776"/>
            <a:ext cx="91440" cy="9144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715768"/>
            <a:ext cx="21762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1.2  散射背景减除 (5 min)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3474720"/>
            <a:ext cx="2313432" cy="18288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53872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B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收益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3721608"/>
            <a:ext cx="231343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μ 绝对值提升 3-5 倍, 接近理论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00984" y="1280160"/>
            <a:ext cx="2679192" cy="269748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00984" y="1280160"/>
            <a:ext cx="2679192" cy="502920"/>
          </a:xfrm>
          <a:prstGeom prst="rect">
            <a:avLst/>
          </a:prstGeom>
          <a:solidFill>
            <a:srgbClr val="219EBC"/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83864" y="1353312"/>
            <a:ext cx="231343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 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83864" y="1554480"/>
            <a:ext cx="231343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算法级升级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83864" y="1901952"/>
            <a:ext cx="23134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30-60 min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83864" y="2148840"/>
            <a:ext cx="23134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重跑: 无需重跑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83864" y="2487168"/>
            <a:ext cx="91440" cy="91440"/>
          </a:xfrm>
          <a:prstGeom prst="rect">
            <a:avLst/>
          </a:prstGeom>
          <a:solidFill>
            <a:srgbClr val="219EBC"/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66744" y="2423160"/>
            <a:ext cx="21762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2.1  FBP -&gt; SART  (30 min)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83864" y="2779776"/>
            <a:ext cx="91440" cy="91440"/>
          </a:xfrm>
          <a:prstGeom prst="rect">
            <a:avLst/>
          </a:prstGeom>
          <a:solidFill>
            <a:srgbClr val="219EBC"/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66744" y="2715768"/>
            <a:ext cx="21762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2.2  + TV 正则化  (30 min)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83864" y="3474720"/>
            <a:ext cx="2313432" cy="18288"/>
          </a:xfrm>
          <a:prstGeom prst="rect">
            <a:avLst/>
          </a:prstGeom>
          <a:solidFill>
            <a:srgbClr val="219EBC"/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83864" y="353872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19E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收益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83864" y="3721608"/>
            <a:ext cx="231343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放射条纹消失, 结构对比度提升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99048" y="1280160"/>
            <a:ext cx="2679192" cy="2697480"/>
          </a:xfrm>
          <a:prstGeom prst="roundRect">
            <a:avLst>
              <a:gd name="adj" fmla="val 273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99048" y="1280160"/>
            <a:ext cx="2679192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81928" y="1353312"/>
            <a:ext cx="231343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 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81928" y="1554480"/>
            <a:ext cx="231343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扫描配置升级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81928" y="1901952"/>
            <a:ext cx="231343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2304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~1 hour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81928" y="2148840"/>
            <a:ext cx="2313432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重跑: 30 min 全量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281928" y="2487168"/>
            <a:ext cx="91440" cy="914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64808" y="2423160"/>
            <a:ext cx="21762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3.1  N_ANGLES 60 -&gt; 180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81928" y="2779776"/>
            <a:ext cx="91440" cy="914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64808" y="2715768"/>
            <a:ext cx="21762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3.2  像素 8mm -&gt; 4mm (24 层)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281928" y="3072384"/>
            <a:ext cx="91440" cy="914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64808" y="3008376"/>
            <a:ext cx="21762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3.3  配合 SART + TV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81928" y="3474720"/>
            <a:ext cx="2313432" cy="1828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81928" y="353872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A9D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收益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81928" y="3721608"/>
            <a:ext cx="231343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个插入物全部清晰可辨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407797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4114800"/>
            <a:ext cx="6217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推荐: 阶段 1.1 + 阶段 2.1 = 35 分钟, 质的飞跃 (I0 修正 + SART 重建)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980430" y="4114800"/>
            <a:ext cx="2661285" cy="4051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B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总投入 ~2 h -&gt; 完成度 60% -&gt; 85%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11480" y="477316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GATE CT Phantom Reconstruction  /  v2.1 (2026-06-14)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275320" y="4736592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75320" y="473659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84048"/>
            <a:ext cx="109728" cy="45720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292608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  /  下一步行动 + 经验教训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21792" y="77724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219E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优先级 P1/P2/P3 + 5 条 GATE 踩坑提醒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115568"/>
            <a:ext cx="832104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80160"/>
            <a:ext cx="49377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B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下一步行动  /  Action Items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2880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178308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修正几何 (方案 A: detector 移到 -X 200mm)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2039112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个 angle 验证, 看 sinogram 是否变主束模式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" y="2359152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359152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2313432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 + 重建, 检查 μ 值是否接近 0.016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2569464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60 角度全跑 (~10 min), FBP 重建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" y="2889504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889504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2843784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 SART 迭代重建 (替代 FBP)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80160" y="3099816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 分钟, 现有数据立即改善, 无需重跑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" y="3419856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3419856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80160" y="3374136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加 TV 正则化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80160" y="3630168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 分钟, 保留边缘, 平坦区去噪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" y="3950208"/>
            <a:ext cx="502920" cy="365760"/>
          </a:xfrm>
          <a:prstGeom prst="roundRect">
            <a:avLst>
              <a:gd name="adj" fmla="val 12500"/>
            </a:avLst>
          </a:prstGeom>
          <a:solidFill>
            <a:srgbClr val="219EBC"/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950208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80160" y="3904488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提升扫描配置 (180 角度 + 4mm 像素)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80160" y="4160520"/>
            <a:ext cx="40233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30 分钟全量, 终极质量飞跃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23560" y="1280160"/>
            <a:ext cx="3108960" cy="32461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06440" y="13716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B85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GATE 经验教训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06440" y="1828800"/>
            <a:ext cx="274320" cy="27432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06440" y="18288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72200" y="178308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FluenceActor 多 run 模式会合并, 用 subprocess 拿单 run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806440" y="2331720"/>
            <a:ext cx="274320" cy="27432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233172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72200" y="228600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CT 几何: 源-体膜-探测器共线, detector 在对侧收主束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06440" y="2834640"/>
            <a:ext cx="274320" cy="27432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06440" y="28346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72200" y="278892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FluenceActor 默认是 hits 计数, 数值偏小=几乎没击中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806440" y="3337560"/>
            <a:ext cx="274320" cy="27432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06440" y="33375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72200" y="329184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itk.array_from_image 返回轴序倒置 (size[2], size[1], size[0])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806440" y="3840480"/>
            <a:ext cx="274320" cy="27432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06440" y="38404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72200" y="379476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0230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subprocess worker 模板要每次启动自动重写, 别依赖外部文件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11480" y="4773168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GATE CT Phantom Reconstruction  /  v2.1 (2026-06-14)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275320" y="4736592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023047"/>
          </a:solidFill>
          <a:ln w="12700">
            <a:solidFill>
              <a:srgbClr val="0230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75320" y="473659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30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spc="200" dirty="0">
                <a:solidFill>
                  <a:srgbClr val="8ECA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SUMMARY  /  总结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046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一份完整的 CT 仿真 + 重建最小可用版本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463040" cy="0"/>
          </a:xfrm>
          <a:prstGeom prst="line">
            <a:avLst/>
          </a:prstGeom>
          <a:noFill/>
          <a:ln w="31750">
            <a:solidFill>
              <a:srgbClr val="FB8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8ECA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B85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96596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已完成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60 角度 × 500k 粒子扫描 + FBP 重建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ECA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工作流端到端跑通, 可视化齐全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47288" y="18288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8ECA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0168" y="196596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B85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24528" y="196596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已识别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30168" y="246888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大问题: I0 / FBP / Z 分辨率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30168" y="297180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ECA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按性价比排序, 1+2 阶段 1 小时可解决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54496" y="1828800"/>
            <a:ext cx="2697480" cy="1691640"/>
          </a:xfrm>
          <a:prstGeom prst="roundRect">
            <a:avLst>
              <a:gd name="adj" fmla="val 4324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8ECA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7376" y="1965960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B85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31736" y="1965960"/>
            <a:ext cx="1783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下一步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37376" y="246888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先修几何 (P1), 再上 SART (P2)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37376" y="297180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ECAE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35 分钟投入, 从 60% 推到 85% 完成度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114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ECAE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路径  /  D:\OpenGATE\ct_phantom_recon_v2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38912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FB8500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v2.1  /  2026-06-14  /  Next: 修几何 + SART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75320" y="4736592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FB8500"/>
          </a:solidFill>
          <a:ln w="12700">
            <a:solidFill>
              <a:srgbClr val="FB85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75320" y="4736592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 /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4737</Words>
  <Application>WPS 演示</Application>
  <PresentationFormat>On-screen Show (16:9)</PresentationFormat>
  <Paragraphs>596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Arial</vt:lpstr>
      <vt:lpstr>Arial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 CT Phantom Reconstruction v2.1</dc:title>
  <dc:creator>GATE CT Project</dc:creator>
  <dc:subject>PptxGenJS Presentation</dc:subject>
  <cp:lastModifiedBy>人中豪杰</cp:lastModifiedBy>
  <cp:revision>2</cp:revision>
  <dcterms:created xsi:type="dcterms:W3CDTF">2026-06-17T14:53:00Z</dcterms:created>
  <dcterms:modified xsi:type="dcterms:W3CDTF">2026-06-17T15:03:30Z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89AF0DCF6D2B45D18DB8CAE1A51CF056_12</vt:lpwstr>
  </property>
  <property fmtid="{D5CDD505-2E9C-101B-9397-08002B2CF9AE}" pid="3" name="KSOProductBuildVer">
    <vt:lpwstr>2052-12.1.0.26895</vt:lpwstr>
  </property>
</Properties>
</file>